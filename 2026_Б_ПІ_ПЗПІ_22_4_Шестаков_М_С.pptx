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Exo 2 Bold" charset="1" panose="00000000000000000000"/>
      <p:regular r:id="rId21"/>
    </p:embeddedFont>
    <p:embeddedFont>
      <p:font typeface="Exo 2" charset="1" panose="00000000000000000000"/>
      <p:regular r:id="rId22"/>
    </p:embeddedFont>
    <p:embeddedFont>
      <p:font typeface="Exo 2 Semi-Bold" charset="1" panose="00000000000000000000"/>
      <p:regular r:id="rId23"/>
    </p:embeddedFont>
    <p:embeddedFont>
      <p:font typeface="Poppins Bold" charset="1" panose="000008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Bold" charset="1" panose="00000800000000000000"/>
      <p:regular r:id="rId26"/>
    </p:embeddedFont>
    <p:embeddedFont>
      <p:font typeface="Exo 2 Heavy" charset="1" panose="00000000000000000000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5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4426" y="2976429"/>
            <a:ext cx="6131096" cy="61310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503343"/>
            <a:ext cx="10164563" cy="6357472"/>
          </a:xfrm>
          <a:custGeom>
            <a:avLst/>
            <a:gdLst/>
            <a:ahLst/>
            <a:cxnLst/>
            <a:rect r="r" b="b" t="t" l="l"/>
            <a:pathLst>
              <a:path h="6357472" w="10164563">
                <a:moveTo>
                  <a:pt x="0" y="0"/>
                </a:moveTo>
                <a:lnTo>
                  <a:pt x="10164563" y="0"/>
                </a:lnTo>
                <a:lnTo>
                  <a:pt x="10164563" y="6357472"/>
                </a:lnTo>
                <a:lnTo>
                  <a:pt x="0" y="6357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453050" y="0"/>
            <a:ext cx="7704200" cy="77042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41955" y="7028104"/>
            <a:ext cx="2230196" cy="22301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07372" y="281622"/>
            <a:ext cx="2704673" cy="618211"/>
          </a:xfrm>
          <a:custGeom>
            <a:avLst/>
            <a:gdLst/>
            <a:ahLst/>
            <a:cxnLst/>
            <a:rect r="r" b="b" t="t" l="l"/>
            <a:pathLst>
              <a:path h="618211" w="2704673">
                <a:moveTo>
                  <a:pt x="0" y="0"/>
                </a:moveTo>
                <a:lnTo>
                  <a:pt x="2704673" y="0"/>
                </a:lnTo>
                <a:lnTo>
                  <a:pt x="2704673" y="618211"/>
                </a:lnTo>
                <a:lnTo>
                  <a:pt x="0" y="61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3867" y="281622"/>
            <a:ext cx="3380841" cy="618211"/>
          </a:xfrm>
          <a:custGeom>
            <a:avLst/>
            <a:gdLst/>
            <a:ahLst/>
            <a:cxnLst/>
            <a:rect r="r" b="b" t="t" l="l"/>
            <a:pathLst>
              <a:path h="618211" w="3380841">
                <a:moveTo>
                  <a:pt x="0" y="0"/>
                </a:moveTo>
                <a:lnTo>
                  <a:pt x="3380842" y="0"/>
                </a:lnTo>
                <a:lnTo>
                  <a:pt x="3380842" y="618211"/>
                </a:lnTo>
                <a:lnTo>
                  <a:pt x="0" y="61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76338" y="1799385"/>
            <a:ext cx="13682962" cy="343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58"/>
              </a:lnSpc>
            </a:pPr>
            <a:r>
              <a:rPr lang="en-US" b="true" sz="602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Bold"/>
                <a:ea typeface="Exo 2 Bold"/>
                <a:cs typeface="Exo 2 Bold"/>
                <a:sym typeface="Exo 2 Bold"/>
              </a:rPr>
              <a:t>Програмна система підтримки діяльності волонтерських спільнот. Дизайн системи. Клієнтська частина для організацій та адміністраторів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4898" y="7999475"/>
            <a:ext cx="7124402" cy="183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63"/>
              </a:lnSpc>
            </a:pPr>
          </a:p>
          <a:p>
            <a:pPr algn="r">
              <a:lnSpc>
                <a:spcPts val="2463"/>
              </a:lnSpc>
            </a:pPr>
            <a:r>
              <a:rPr lang="en-US" sz="1986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Шестаков Микола Саркісович</a:t>
            </a:r>
            <a:r>
              <a:rPr lang="en-US" sz="1986" b="true">
                <a:solidFill>
                  <a:srgbClr val="000000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, ПЗПІ-22-4</a:t>
            </a:r>
          </a:p>
          <a:p>
            <a:pPr algn="r">
              <a:lnSpc>
                <a:spcPts val="2463"/>
              </a:lnSpc>
            </a:pPr>
            <a:r>
              <a:rPr lang="en-US" sz="1986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доц. кафедри ПІ Терещенко Гліб Юрійович </a:t>
            </a:r>
          </a:p>
          <a:p>
            <a:pPr algn="r">
              <a:lnSpc>
                <a:spcPts val="2463"/>
              </a:lnSpc>
            </a:pPr>
          </a:p>
          <a:p>
            <a:pPr algn="r">
              <a:lnSpc>
                <a:spcPts val="2463"/>
              </a:lnSpc>
            </a:pPr>
          </a:p>
          <a:p>
            <a:pPr algn="r">
              <a:lnSpc>
                <a:spcPts val="246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352405" y="9197832"/>
            <a:ext cx="190689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>
                    <a:alpha val="9882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14 липня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05929" y="4420880"/>
            <a:ext cx="7704200" cy="77042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823400" y="3901867"/>
            <a:ext cx="7704200" cy="77042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517856"/>
            <a:ext cx="14894464" cy="609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Мета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Спроєктувати та розробити клієнтську частину вебплатформи для організаторів та адміністраторів волонтерських спільнот – керування організаціями, активностями, контекстними рол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ями, адміністрування платформи – та дизайн-систему платформи в цілому.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Проблема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Координація волонтерсько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ї діяльності в більшості організацій тримається на месенджерах і таблицях, що перестає працювати зі зростанням кількості учасників.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Актуальність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Наявні міжнародні платформи вирішують лише окремі аспекти проблеми – жодна не поєднує керування організаціями й активностями, облік волонтерського часу та мотивацію учасників в одному середовищі.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4875"/>
            <a:ext cx="1162672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АНАЛІЗ ІСНУЮЧИХ РІШЕНЬ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4982" y="-4501326"/>
            <a:ext cx="7704200" cy="77042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05929" y="4420880"/>
            <a:ext cx="7704200" cy="77042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32900" y="5953615"/>
            <a:ext cx="7314182" cy="257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VolunteerHub</a:t>
            </a: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(США)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гл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ибока інтеграція з CRM (Salesforce, Blackbaud) для роботи з великими ба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зами волонтерів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висока вартість, робить платформу недоступною для малих і середніх організацій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2823400" y="3901867"/>
            <a:ext cx="7704200" cy="77042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953615"/>
            <a:ext cx="6662367" cy="216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Volunteero</a:t>
            </a: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(Велика Б</a:t>
            </a: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ританія)</a:t>
            </a:r>
          </a:p>
          <a:p>
            <a:pPr algn="just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автоматизований рекрутинг і онбординг із налаштовуваними формами реєстрації</a:t>
            </a:r>
          </a:p>
          <a:p>
            <a:pPr algn="just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обмежена звітність і негнучка система ролей та прав доступу на рівні організації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04875"/>
            <a:ext cx="1162672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АНАЛІЗ ІСНУЮЧИХ РІШЕНЬ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4982" y="-4501326"/>
            <a:ext cx="7704200" cy="77042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732900" y="2516868"/>
            <a:ext cx="7878898" cy="298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GivePulse</a:t>
            </a: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(США)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підтримка складних оргструктур із підрозділами та 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розвинена звітність на рівні всієї організації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без керування задачами з підтвердженням виконання роботи; повний функціонал доступний лише на платних планах вартістю від кількох тисяч доларів на рік, застарілий інтерфейс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516868"/>
            <a:ext cx="7136639" cy="339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Better Impact</a:t>
            </a: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(Канада)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сам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остійне планування змін знижує навантаження н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 координаторів, а розвинена звітність спрощує підготовку грантових заявок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немає системи задач із підтвердженням виконання роботи та проєктної структури;</a:t>
            </a:r>
          </a:p>
          <a:p>
            <a:pPr algn="l">
              <a:lnSpc>
                <a:spcPts val="324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22050" y="4375492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185518" y="1028700"/>
            <a:ext cx="9525289" cy="95252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78343" y="296180"/>
            <a:ext cx="2477446" cy="24774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28700" y="2569631"/>
          <a:ext cx="16230600" cy="4838700"/>
        </p:xfrm>
        <a:graphic>
          <a:graphicData uri="http://schemas.openxmlformats.org/drawingml/2006/table">
            <a:tbl>
              <a:tblPr/>
              <a:tblGrid>
                <a:gridCol w="4356233"/>
                <a:gridCol w="1192893"/>
                <a:gridCol w="1145429"/>
                <a:gridCol w="1116731"/>
                <a:gridCol w="1173935"/>
                <a:gridCol w="1113546"/>
                <a:gridCol w="1091371"/>
                <a:gridCol w="1116808"/>
                <a:gridCol w="1030943"/>
                <a:gridCol w="1002322"/>
                <a:gridCol w="949396"/>
                <a:gridCol w="940993"/>
              </a:tblGrid>
              <a:tr h="9504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Платформа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І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К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И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Б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В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Е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Ж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З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27"/>
                        </a:lnSpc>
                        <a:defRPr/>
                      </a:pPr>
                      <a:r>
                        <a:rPr lang="en-US" b="true" sz="3019">
                          <a:gradFill>
                            <a:gsLst>
                              <a:gs pos="0">
                                <a:srgbClr val="590000">
                                  <a:alpha val="100000"/>
                                </a:srgbClr>
                              </a:gs>
                              <a:gs pos="100000">
                                <a:srgbClr val="CB0000">
                                  <a:alpha val="100000"/>
                                </a:srgbClr>
                              </a:gs>
                            </a:gsLst>
                            <a:lin ang="540000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Г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Volunteero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GivePulse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VolunteerHub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Better Impact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ImpactFlow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7"/>
                        </a:lnSpc>
                        <a:defRPr/>
                      </a:pPr>
                      <a:r>
                        <a:rPr lang="en-US" sz="231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686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028700" y="1419225"/>
            <a:ext cx="1515743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АНАЛІЗ ІСНУЮЧИХ РІШЕНЬ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495109" y="7988099"/>
            <a:ext cx="1966467" cy="19664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1614" y="7941415"/>
            <a:ext cx="983233" cy="98323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041800" y="8527347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3841" y="7677762"/>
            <a:ext cx="5118438" cy="203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Ж – облік часу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З – звітність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И – укр. інтерфейс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І – керування активностями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К – керування організаціями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30210" y="7677762"/>
            <a:ext cx="4308037" cy="244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 –</a:t>
            </a: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пр</a:t>
            </a: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оєкти та задачі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 – підтвердження роботи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 – ролі й прав</a:t>
            </a: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 доступу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Г – вбудований чат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 – інтерактивна мапа</a:t>
            </a:r>
          </a:p>
          <a:p>
            <a:pPr algn="l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 – гейміфікація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89819" y="4883967"/>
            <a:ext cx="7704200" cy="77042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23400" y="3901867"/>
            <a:ext cx="7704200" cy="77042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4982" y="-4501326"/>
            <a:ext cx="7704200" cy="77042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59403" y="5619609"/>
            <a:ext cx="7795207" cy="5626722"/>
          </a:xfrm>
          <a:custGeom>
            <a:avLst/>
            <a:gdLst/>
            <a:ahLst/>
            <a:cxnLst/>
            <a:rect r="r" b="b" t="t" l="l"/>
            <a:pathLst>
              <a:path h="5626722" w="7795207">
                <a:moveTo>
                  <a:pt x="0" y="0"/>
                </a:moveTo>
                <a:lnTo>
                  <a:pt x="7795207" y="0"/>
                </a:lnTo>
                <a:lnTo>
                  <a:pt x="7795207" y="5626722"/>
                </a:lnTo>
                <a:lnTo>
                  <a:pt x="0" y="562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520121"/>
            <a:ext cx="13229329" cy="609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Реаліз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увати клієнтську частину вебплатформи, яка надає організаторам можливості для керування організаціями й активностями, а адміністратора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 – засоби адміністрування платформи, об'єднані спільною дизайн-системою.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Організатор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Керування організаціями, проєктами, подіями та задачами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Опрацювання заявок і запрошень, керування контекстними ролями та правами доступу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Опрацювання відвідуваності подій, перегляд рекомендацій волонтерів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Адміністратор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Керування обліковими записами користувачів і блокуваннями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Керування довідниками навичок і категорій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Опрацювання системних запитів, перегляд статистики платформи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04875"/>
            <a:ext cx="1643815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ПОСТАНОВКА ЗАДАЧІ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99159" y="-1194481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04394" y="4375431"/>
            <a:ext cx="8239499" cy="823949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24190" y="9558292"/>
            <a:ext cx="2230196" cy="223019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2573505"/>
            <a:ext cx="1953400" cy="1953400"/>
          </a:xfrm>
          <a:custGeom>
            <a:avLst/>
            <a:gdLst/>
            <a:ahLst/>
            <a:cxnLst/>
            <a:rect r="r" b="b" t="t" l="l"/>
            <a:pathLst>
              <a:path h="1953400" w="1953400">
                <a:moveTo>
                  <a:pt x="0" y="0"/>
                </a:moveTo>
                <a:lnTo>
                  <a:pt x="1953400" y="0"/>
                </a:lnTo>
                <a:lnTo>
                  <a:pt x="1953400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864837" y="2573505"/>
            <a:ext cx="1979679" cy="1953400"/>
          </a:xfrm>
          <a:custGeom>
            <a:avLst/>
            <a:gdLst/>
            <a:ahLst/>
            <a:cxnLst/>
            <a:rect r="r" b="b" t="t" l="l"/>
            <a:pathLst>
              <a:path h="1953400" w="1979679">
                <a:moveTo>
                  <a:pt x="0" y="0"/>
                </a:moveTo>
                <a:lnTo>
                  <a:pt x="1979679" y="0"/>
                </a:lnTo>
                <a:lnTo>
                  <a:pt x="1979679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4893854"/>
            <a:ext cx="2995490" cy="1684963"/>
          </a:xfrm>
          <a:custGeom>
            <a:avLst/>
            <a:gdLst/>
            <a:ahLst/>
            <a:cxnLst/>
            <a:rect r="r" b="b" t="t" l="l"/>
            <a:pathLst>
              <a:path h="1684963" w="2995490">
                <a:moveTo>
                  <a:pt x="0" y="0"/>
                </a:moveTo>
                <a:lnTo>
                  <a:pt x="2995490" y="0"/>
                </a:lnTo>
                <a:lnTo>
                  <a:pt x="2995490" y="1684963"/>
                </a:lnTo>
                <a:lnTo>
                  <a:pt x="0" y="1684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88568" y="4893854"/>
            <a:ext cx="3209453" cy="1684963"/>
          </a:xfrm>
          <a:custGeom>
            <a:avLst/>
            <a:gdLst/>
            <a:ahLst/>
            <a:cxnLst/>
            <a:rect r="r" b="b" t="t" l="l"/>
            <a:pathLst>
              <a:path h="1684963" w="3209453">
                <a:moveTo>
                  <a:pt x="0" y="0"/>
                </a:moveTo>
                <a:lnTo>
                  <a:pt x="3209453" y="0"/>
                </a:lnTo>
                <a:lnTo>
                  <a:pt x="3209453" y="1684963"/>
                </a:lnTo>
                <a:lnTo>
                  <a:pt x="0" y="168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64746" y="4893854"/>
            <a:ext cx="3008863" cy="1684963"/>
          </a:xfrm>
          <a:custGeom>
            <a:avLst/>
            <a:gdLst/>
            <a:ahLst/>
            <a:cxnLst/>
            <a:rect r="r" b="b" t="t" l="l"/>
            <a:pathLst>
              <a:path h="1684963" w="3008863">
                <a:moveTo>
                  <a:pt x="0" y="0"/>
                </a:moveTo>
                <a:lnTo>
                  <a:pt x="3008863" y="0"/>
                </a:lnTo>
                <a:lnTo>
                  <a:pt x="3008863" y="1684963"/>
                </a:lnTo>
                <a:lnTo>
                  <a:pt x="0" y="1684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311241" y="2573505"/>
            <a:ext cx="1953400" cy="1953400"/>
          </a:xfrm>
          <a:custGeom>
            <a:avLst/>
            <a:gdLst/>
            <a:ahLst/>
            <a:cxnLst/>
            <a:rect r="r" b="b" t="t" l="l"/>
            <a:pathLst>
              <a:path h="1953400" w="1953400">
                <a:moveTo>
                  <a:pt x="0" y="0"/>
                </a:moveTo>
                <a:lnTo>
                  <a:pt x="1953400" y="0"/>
                </a:lnTo>
                <a:lnTo>
                  <a:pt x="1953400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332" t="0" r="-42136" b="-4326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697553" y="4024252"/>
            <a:ext cx="1259736" cy="351179"/>
            <a:chOff x="0" y="0"/>
            <a:chExt cx="331782" cy="924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1782" cy="92492"/>
            </a:xfrm>
            <a:custGeom>
              <a:avLst/>
              <a:gdLst/>
              <a:ahLst/>
              <a:cxnLst/>
              <a:rect r="r" b="b" t="t" l="l"/>
              <a:pathLst>
                <a:path h="92492" w="331782">
                  <a:moveTo>
                    <a:pt x="0" y="0"/>
                  </a:moveTo>
                  <a:lnTo>
                    <a:pt x="331782" y="0"/>
                  </a:lnTo>
                  <a:lnTo>
                    <a:pt x="331782" y="92492"/>
                  </a:lnTo>
                  <a:lnTo>
                    <a:pt x="0" y="924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331782" cy="159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740891" y="2573505"/>
            <a:ext cx="1953400" cy="1953400"/>
          </a:xfrm>
          <a:custGeom>
            <a:avLst/>
            <a:gdLst/>
            <a:ahLst/>
            <a:cxnLst/>
            <a:rect r="r" b="b" t="t" l="l"/>
            <a:pathLst>
              <a:path h="1953400" w="1953400">
                <a:moveTo>
                  <a:pt x="0" y="0"/>
                </a:moveTo>
                <a:lnTo>
                  <a:pt x="1953400" y="0"/>
                </a:lnTo>
                <a:lnTo>
                  <a:pt x="1953400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235" t="0" r="-38235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161016" y="2573505"/>
            <a:ext cx="1953400" cy="1953400"/>
          </a:xfrm>
          <a:custGeom>
            <a:avLst/>
            <a:gdLst/>
            <a:ahLst/>
            <a:cxnLst/>
            <a:rect r="r" b="b" t="t" l="l"/>
            <a:pathLst>
              <a:path h="1953400" w="1953400">
                <a:moveTo>
                  <a:pt x="0" y="0"/>
                </a:moveTo>
                <a:lnTo>
                  <a:pt x="1953401" y="0"/>
                </a:lnTo>
                <a:lnTo>
                  <a:pt x="1953401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6950292"/>
            <a:ext cx="2114922" cy="1953400"/>
          </a:xfrm>
          <a:custGeom>
            <a:avLst/>
            <a:gdLst/>
            <a:ahLst/>
            <a:cxnLst/>
            <a:rect r="r" b="b" t="t" l="l"/>
            <a:pathLst>
              <a:path h="1953400" w="2114922">
                <a:moveTo>
                  <a:pt x="0" y="0"/>
                </a:moveTo>
                <a:lnTo>
                  <a:pt x="2114922" y="0"/>
                </a:lnTo>
                <a:lnTo>
                  <a:pt x="2114922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66459" b="-160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640334" y="5169256"/>
            <a:ext cx="4259751" cy="1134159"/>
          </a:xfrm>
          <a:custGeom>
            <a:avLst/>
            <a:gdLst/>
            <a:ahLst/>
            <a:cxnLst/>
            <a:rect r="r" b="b" t="t" l="l"/>
            <a:pathLst>
              <a:path h="1134159" w="4259751">
                <a:moveTo>
                  <a:pt x="0" y="0"/>
                </a:moveTo>
                <a:lnTo>
                  <a:pt x="4259751" y="0"/>
                </a:lnTo>
                <a:lnTo>
                  <a:pt x="4259751" y="1134159"/>
                </a:lnTo>
                <a:lnTo>
                  <a:pt x="0" y="11341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445193" y="2566600"/>
            <a:ext cx="1953400" cy="1953400"/>
          </a:xfrm>
          <a:custGeom>
            <a:avLst/>
            <a:gdLst/>
            <a:ahLst/>
            <a:cxnLst/>
            <a:rect r="r" b="b" t="t" l="l"/>
            <a:pathLst>
              <a:path h="1953400" w="1953400">
                <a:moveTo>
                  <a:pt x="0" y="0"/>
                </a:moveTo>
                <a:lnTo>
                  <a:pt x="1953400" y="0"/>
                </a:lnTo>
                <a:lnTo>
                  <a:pt x="1953400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40304" y="6950292"/>
            <a:ext cx="2344996" cy="1953400"/>
          </a:xfrm>
          <a:custGeom>
            <a:avLst/>
            <a:gdLst/>
            <a:ahLst/>
            <a:cxnLst/>
            <a:rect r="r" b="b" t="t" l="l"/>
            <a:pathLst>
              <a:path h="1953400" w="2344996">
                <a:moveTo>
                  <a:pt x="0" y="0"/>
                </a:moveTo>
                <a:lnTo>
                  <a:pt x="2344996" y="0"/>
                </a:lnTo>
                <a:lnTo>
                  <a:pt x="2344996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3610979" y="6952130"/>
            <a:ext cx="3362600" cy="1987036"/>
            <a:chOff x="0" y="0"/>
            <a:chExt cx="885623" cy="5233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5623" cy="523335"/>
            </a:xfrm>
            <a:custGeom>
              <a:avLst/>
              <a:gdLst/>
              <a:ahLst/>
              <a:cxnLst/>
              <a:rect r="r" b="b" t="t" l="l"/>
              <a:pathLst>
                <a:path h="523335" w="885623">
                  <a:moveTo>
                    <a:pt x="117420" y="0"/>
                  </a:moveTo>
                  <a:lnTo>
                    <a:pt x="768203" y="0"/>
                  </a:lnTo>
                  <a:cubicBezTo>
                    <a:pt x="833052" y="0"/>
                    <a:pt x="885623" y="52571"/>
                    <a:pt x="885623" y="117420"/>
                  </a:cubicBezTo>
                  <a:lnTo>
                    <a:pt x="885623" y="405914"/>
                  </a:lnTo>
                  <a:cubicBezTo>
                    <a:pt x="885623" y="470764"/>
                    <a:pt x="833052" y="523335"/>
                    <a:pt x="768203" y="523335"/>
                  </a:cubicBezTo>
                  <a:lnTo>
                    <a:pt x="117420" y="523335"/>
                  </a:lnTo>
                  <a:cubicBezTo>
                    <a:pt x="52571" y="523335"/>
                    <a:pt x="0" y="470764"/>
                    <a:pt x="0" y="405914"/>
                  </a:cubicBezTo>
                  <a:lnTo>
                    <a:pt x="0" y="117420"/>
                  </a:lnTo>
                  <a:cubicBezTo>
                    <a:pt x="0" y="52571"/>
                    <a:pt x="52571" y="0"/>
                    <a:pt x="117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85623" cy="590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618815" y="6950292"/>
            <a:ext cx="3346296" cy="1953400"/>
          </a:xfrm>
          <a:custGeom>
            <a:avLst/>
            <a:gdLst/>
            <a:ahLst/>
            <a:cxnLst/>
            <a:rect r="r" b="b" t="t" l="l"/>
            <a:pathLst>
              <a:path h="1953400" w="3346296">
                <a:moveTo>
                  <a:pt x="0" y="0"/>
                </a:moveTo>
                <a:lnTo>
                  <a:pt x="3346296" y="0"/>
                </a:lnTo>
                <a:lnTo>
                  <a:pt x="3346296" y="1953400"/>
                </a:lnTo>
                <a:lnTo>
                  <a:pt x="0" y="19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252025" y="6916656"/>
            <a:ext cx="2291727" cy="1987036"/>
            <a:chOff x="0" y="0"/>
            <a:chExt cx="603582" cy="5233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3582" cy="523335"/>
            </a:xfrm>
            <a:custGeom>
              <a:avLst/>
              <a:gdLst/>
              <a:ahLst/>
              <a:cxnLst/>
              <a:rect r="r" b="b" t="t" l="l"/>
              <a:pathLst>
                <a:path h="523335" w="603582">
                  <a:moveTo>
                    <a:pt x="172288" y="0"/>
                  </a:moveTo>
                  <a:lnTo>
                    <a:pt x="431294" y="0"/>
                  </a:lnTo>
                  <a:cubicBezTo>
                    <a:pt x="526446" y="0"/>
                    <a:pt x="603582" y="77136"/>
                    <a:pt x="603582" y="172288"/>
                  </a:cubicBezTo>
                  <a:lnTo>
                    <a:pt x="603582" y="351046"/>
                  </a:lnTo>
                  <a:cubicBezTo>
                    <a:pt x="603582" y="446199"/>
                    <a:pt x="526446" y="523335"/>
                    <a:pt x="431294" y="523335"/>
                  </a:cubicBezTo>
                  <a:lnTo>
                    <a:pt x="172288" y="523335"/>
                  </a:lnTo>
                  <a:cubicBezTo>
                    <a:pt x="77136" y="523335"/>
                    <a:pt x="0" y="446199"/>
                    <a:pt x="0" y="351046"/>
                  </a:cubicBezTo>
                  <a:lnTo>
                    <a:pt x="0" y="172288"/>
                  </a:lnTo>
                  <a:cubicBezTo>
                    <a:pt x="0" y="77136"/>
                    <a:pt x="77136" y="0"/>
                    <a:pt x="1722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03582" cy="590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0499618" y="7011904"/>
            <a:ext cx="1796540" cy="1796540"/>
          </a:xfrm>
          <a:custGeom>
            <a:avLst/>
            <a:gdLst/>
            <a:ahLst/>
            <a:cxnLst/>
            <a:rect r="r" b="b" t="t" l="l"/>
            <a:pathLst>
              <a:path h="1796540" w="1796540">
                <a:moveTo>
                  <a:pt x="0" y="0"/>
                </a:moveTo>
                <a:lnTo>
                  <a:pt x="1796541" y="0"/>
                </a:lnTo>
                <a:lnTo>
                  <a:pt x="1796541" y="1796540"/>
                </a:lnTo>
                <a:lnTo>
                  <a:pt x="0" y="17965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28700" y="904875"/>
            <a:ext cx="1537365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ВИБІР ТЕХНОЛОГІЙ РОЗРОБКИ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1865" y="5716922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185518" y="1028700"/>
            <a:ext cx="9525289" cy="95252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95109" y="7955994"/>
            <a:ext cx="1966467" cy="19664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1614" y="7941415"/>
            <a:ext cx="983233" cy="98323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85850"/>
            <a:ext cx="15175281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ОПИС ПРОГРАМНОГО ЗАБЕЗПЕЧЕННЯ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41800" y="849524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478343" y="296180"/>
            <a:ext cx="2477446" cy="247744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900962"/>
            <a:ext cx="7929862" cy="445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Модель застосунку 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SPA + Client-Side Rendering – динамічне оновлення інтерфейсу без перезавантаження сторінки, дані підвантажуються асинхронно через REST API.</a:t>
            </a:r>
          </a:p>
          <a:p>
            <a:pPr algn="l">
              <a:lnSpc>
                <a:spcPts val="75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Основа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 19 + TypeScript + Vite – компонентний підхід, статична типізація, швидка збірка проєкту.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683368" y="2900962"/>
            <a:ext cx="7929862" cy="527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Принципи проєктування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Feature-Sliced Design (поділ на app/pages/widgets/features/entities/shared), Separation of Concerns, deny-by-default (перевірка прав повертає відмову за відсутності даних, а не дозвіл).</a:t>
            </a:r>
          </a:p>
          <a:p>
            <a:pPr algn="l">
              <a:lnSpc>
                <a:spcPts val="75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Патерни проєктування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actory, Strategy, Chain of Responsibility, Custom Hooks, Singleton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235119" y="7237320"/>
            <a:ext cx="7929862" cy="268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Результат</a:t>
            </a:r>
          </a:p>
          <a:p>
            <a:pPr algn="l">
              <a:lnSpc>
                <a:spcPts val="3250"/>
              </a:lnSpc>
            </a:pP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клієнтська система, стійка до зміни бізнес-логіки завдяки чіткому розмежув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нню п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ер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евірк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пра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</a:t>
            </a:r>
            <a:r>
              <a:rPr lang="en-US" sz="2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стану форм і категоризації даних.</a:t>
            </a:r>
          </a:p>
          <a:p>
            <a:pPr algn="l">
              <a:lnSpc>
                <a:spcPts val="325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5735" y="4680792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67256" y="606639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86339" y="1916135"/>
            <a:ext cx="8879983" cy="8072202"/>
          </a:xfrm>
          <a:custGeom>
            <a:avLst/>
            <a:gdLst/>
            <a:ahLst/>
            <a:cxnLst/>
            <a:rect r="r" b="b" t="t" l="l"/>
            <a:pathLst>
              <a:path h="8072202" w="8879983">
                <a:moveTo>
                  <a:pt x="0" y="0"/>
                </a:moveTo>
                <a:lnTo>
                  <a:pt x="8879983" y="0"/>
                </a:lnTo>
                <a:lnTo>
                  <a:pt x="8879983" y="8072202"/>
                </a:lnTo>
                <a:lnTo>
                  <a:pt x="0" y="807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10" id="10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435189"/>
            <a:ext cx="15954571" cy="386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UML-ПРОЕКТУВАННЯ ПЗ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ДІАГРАМА ПОСЛІДОВНОСТІ: 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РОЗГЛЯД ЗАЯВОК НА ПРИЄДНАННЯ 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ОРГАНІЗАТОРОМ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4299799"/>
            <a:ext cx="7275002" cy="3742079"/>
            <a:chOff x="0" y="0"/>
            <a:chExt cx="3170113" cy="1630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0113" cy="1630724"/>
            </a:xfrm>
            <a:custGeom>
              <a:avLst/>
              <a:gdLst/>
              <a:ahLst/>
              <a:cxnLst/>
              <a:rect r="r" b="b" t="t" l="l"/>
              <a:pathLst>
                <a:path h="1630724" w="3170113">
                  <a:moveTo>
                    <a:pt x="3170113" y="21284"/>
                  </a:moveTo>
                  <a:lnTo>
                    <a:pt x="3170113" y="1609441"/>
                  </a:lnTo>
                  <a:cubicBezTo>
                    <a:pt x="3170113" y="1621195"/>
                    <a:pt x="3160584" y="1630724"/>
                    <a:pt x="3148830" y="1630724"/>
                  </a:cubicBezTo>
                  <a:lnTo>
                    <a:pt x="21284" y="1630724"/>
                  </a:lnTo>
                  <a:cubicBezTo>
                    <a:pt x="9529" y="1630724"/>
                    <a:pt x="0" y="1621195"/>
                    <a:pt x="0" y="1609441"/>
                  </a:cubicBezTo>
                  <a:lnTo>
                    <a:pt x="0" y="21284"/>
                  </a:lnTo>
                  <a:cubicBezTo>
                    <a:pt x="0" y="9529"/>
                    <a:pt x="9529" y="0"/>
                    <a:pt x="21284" y="0"/>
                  </a:cubicBezTo>
                  <a:lnTo>
                    <a:pt x="3148830" y="0"/>
                  </a:lnTo>
                  <a:cubicBezTo>
                    <a:pt x="3154475" y="0"/>
                    <a:pt x="3159888" y="2242"/>
                    <a:pt x="3163880" y="6234"/>
                  </a:cubicBezTo>
                  <a:cubicBezTo>
                    <a:pt x="3167871" y="10225"/>
                    <a:pt x="3170113" y="15639"/>
                    <a:pt x="3170113" y="21284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170113" cy="16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4299799"/>
            <a:ext cx="7275002" cy="3833017"/>
          </a:xfrm>
          <a:custGeom>
            <a:avLst/>
            <a:gdLst/>
            <a:ahLst/>
            <a:cxnLst/>
            <a:rect r="r" b="b" t="t" l="l"/>
            <a:pathLst>
              <a:path h="3833017" w="7275002">
                <a:moveTo>
                  <a:pt x="0" y="0"/>
                </a:moveTo>
                <a:lnTo>
                  <a:pt x="7275002" y="0"/>
                </a:lnTo>
                <a:lnTo>
                  <a:pt x="7275002" y="3833017"/>
                </a:lnTo>
                <a:lnTo>
                  <a:pt x="0" y="3833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5735" y="4680792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67256" y="606639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02873" y="1971774"/>
            <a:ext cx="7839271" cy="7858604"/>
          </a:xfrm>
          <a:custGeom>
            <a:avLst/>
            <a:gdLst/>
            <a:ahLst/>
            <a:cxnLst/>
            <a:rect r="r" b="b" t="t" l="l"/>
            <a:pathLst>
              <a:path h="7858604" w="7839271">
                <a:moveTo>
                  <a:pt x="0" y="0"/>
                </a:moveTo>
                <a:lnTo>
                  <a:pt x="7839271" y="0"/>
                </a:lnTo>
                <a:lnTo>
                  <a:pt x="7839271" y="7858604"/>
                </a:lnTo>
                <a:lnTo>
                  <a:pt x="0" y="7858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10" id="10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435189"/>
            <a:ext cx="15954571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UML-ПРОЕКТУВАННЯ ПЗ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ДІАГРАМА АКТИВНОСТІ ОНОВЛЕННЯ 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ІНФОРМАЦІЇ ПРО ОРГАНІЗАЦІЮ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3808583"/>
            <a:ext cx="8115300" cy="4174307"/>
            <a:chOff x="0" y="0"/>
            <a:chExt cx="3170113" cy="1630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0113" cy="1630724"/>
            </a:xfrm>
            <a:custGeom>
              <a:avLst/>
              <a:gdLst/>
              <a:ahLst/>
              <a:cxnLst/>
              <a:rect r="r" b="b" t="t" l="l"/>
              <a:pathLst>
                <a:path h="1630724" w="3170113">
                  <a:moveTo>
                    <a:pt x="3170113" y="19080"/>
                  </a:moveTo>
                  <a:lnTo>
                    <a:pt x="3170113" y="1611644"/>
                  </a:lnTo>
                  <a:cubicBezTo>
                    <a:pt x="3170113" y="1622182"/>
                    <a:pt x="3161571" y="1630724"/>
                    <a:pt x="3151033" y="1630724"/>
                  </a:cubicBezTo>
                  <a:lnTo>
                    <a:pt x="19080" y="1630724"/>
                  </a:lnTo>
                  <a:cubicBezTo>
                    <a:pt x="8542" y="1630724"/>
                    <a:pt x="0" y="1622182"/>
                    <a:pt x="0" y="161164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lnTo>
                    <a:pt x="3151033" y="0"/>
                  </a:lnTo>
                  <a:cubicBezTo>
                    <a:pt x="3156094" y="0"/>
                    <a:pt x="3160947" y="2010"/>
                    <a:pt x="3164525" y="5588"/>
                  </a:cubicBezTo>
                  <a:cubicBezTo>
                    <a:pt x="3168103" y="9167"/>
                    <a:pt x="3170113" y="14020"/>
                    <a:pt x="3170113" y="19080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170113" cy="16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3808583"/>
            <a:ext cx="8115300" cy="4285893"/>
          </a:xfrm>
          <a:custGeom>
            <a:avLst/>
            <a:gdLst/>
            <a:ahLst/>
            <a:cxnLst/>
            <a:rect r="r" b="b" t="t" l="l"/>
            <a:pathLst>
              <a:path h="4285893" w="8115300">
                <a:moveTo>
                  <a:pt x="0" y="0"/>
                </a:moveTo>
                <a:lnTo>
                  <a:pt x="8115300" y="0"/>
                </a:lnTo>
                <a:lnTo>
                  <a:pt x="8115300" y="4285893"/>
                </a:lnTo>
                <a:lnTo>
                  <a:pt x="0" y="428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5735" y="4680792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67256" y="606639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35189"/>
            <a:ext cx="15954571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UML-ПРОЕКТУВАННЯ ПЗ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ДІАГРАМА АКТИВНОСТІ СТВОРЕННЯ 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ПРОЄКТУ ОРГАНІЗАТОРОМ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31707" y="1924788"/>
            <a:ext cx="6998391" cy="7905589"/>
          </a:xfrm>
          <a:custGeom>
            <a:avLst/>
            <a:gdLst/>
            <a:ahLst/>
            <a:cxnLst/>
            <a:rect r="r" b="b" t="t" l="l"/>
            <a:pathLst>
              <a:path h="7905589" w="6998391">
                <a:moveTo>
                  <a:pt x="0" y="0"/>
                </a:moveTo>
                <a:lnTo>
                  <a:pt x="6998391" y="0"/>
                </a:lnTo>
                <a:lnTo>
                  <a:pt x="6998391" y="7905590"/>
                </a:lnTo>
                <a:lnTo>
                  <a:pt x="0" y="790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11" id="11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3597846"/>
            <a:ext cx="8424610" cy="4333409"/>
            <a:chOff x="0" y="0"/>
            <a:chExt cx="3170113" cy="1630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0113" cy="1630724"/>
            </a:xfrm>
            <a:custGeom>
              <a:avLst/>
              <a:gdLst/>
              <a:ahLst/>
              <a:cxnLst/>
              <a:rect r="r" b="b" t="t" l="l"/>
              <a:pathLst>
                <a:path h="1630724" w="3170113">
                  <a:moveTo>
                    <a:pt x="3170113" y="18379"/>
                  </a:moveTo>
                  <a:lnTo>
                    <a:pt x="3170113" y="1612345"/>
                  </a:lnTo>
                  <a:cubicBezTo>
                    <a:pt x="3170113" y="1617219"/>
                    <a:pt x="3168177" y="1621894"/>
                    <a:pt x="3164730" y="1625341"/>
                  </a:cubicBezTo>
                  <a:cubicBezTo>
                    <a:pt x="3161283" y="1628788"/>
                    <a:pt x="3156608" y="1630724"/>
                    <a:pt x="3151734" y="1630724"/>
                  </a:cubicBezTo>
                  <a:lnTo>
                    <a:pt x="18379" y="1630724"/>
                  </a:lnTo>
                  <a:cubicBezTo>
                    <a:pt x="13505" y="1630724"/>
                    <a:pt x="8830" y="1628788"/>
                    <a:pt x="5383" y="1625341"/>
                  </a:cubicBezTo>
                  <a:cubicBezTo>
                    <a:pt x="1936" y="1621894"/>
                    <a:pt x="0" y="1617219"/>
                    <a:pt x="0" y="1612345"/>
                  </a:cubicBezTo>
                  <a:lnTo>
                    <a:pt x="0" y="18379"/>
                  </a:lnTo>
                  <a:cubicBezTo>
                    <a:pt x="0" y="13505"/>
                    <a:pt x="1936" y="8830"/>
                    <a:pt x="5383" y="5383"/>
                  </a:cubicBezTo>
                  <a:cubicBezTo>
                    <a:pt x="8830" y="1936"/>
                    <a:pt x="13505" y="0"/>
                    <a:pt x="18379" y="0"/>
                  </a:cubicBezTo>
                  <a:lnTo>
                    <a:pt x="3151734" y="0"/>
                  </a:lnTo>
                  <a:cubicBezTo>
                    <a:pt x="3156608" y="0"/>
                    <a:pt x="3161283" y="1936"/>
                    <a:pt x="3164730" y="5383"/>
                  </a:cubicBezTo>
                  <a:cubicBezTo>
                    <a:pt x="3168177" y="8830"/>
                    <a:pt x="3170113" y="13505"/>
                    <a:pt x="3170113" y="18379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170113" cy="16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3554039"/>
            <a:ext cx="8424610" cy="4438716"/>
          </a:xfrm>
          <a:custGeom>
            <a:avLst/>
            <a:gdLst/>
            <a:ahLst/>
            <a:cxnLst/>
            <a:rect r="r" b="b" t="t" l="l"/>
            <a:pathLst>
              <a:path h="4438716" w="8424610">
                <a:moveTo>
                  <a:pt x="0" y="0"/>
                </a:moveTo>
                <a:lnTo>
                  <a:pt x="8424610" y="0"/>
                </a:lnTo>
                <a:lnTo>
                  <a:pt x="8424610" y="4438716"/>
                </a:lnTo>
                <a:lnTo>
                  <a:pt x="0" y="443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5786" y="-1616585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92162" y="2786742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93367" y="3145237"/>
            <a:ext cx="8424610" cy="4333409"/>
            <a:chOff x="0" y="0"/>
            <a:chExt cx="3170113" cy="1630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0113" cy="1630724"/>
            </a:xfrm>
            <a:custGeom>
              <a:avLst/>
              <a:gdLst/>
              <a:ahLst/>
              <a:cxnLst/>
              <a:rect r="r" b="b" t="t" l="l"/>
              <a:pathLst>
                <a:path h="1630724" w="3170113">
                  <a:moveTo>
                    <a:pt x="3170113" y="18379"/>
                  </a:moveTo>
                  <a:lnTo>
                    <a:pt x="3170113" y="1612345"/>
                  </a:lnTo>
                  <a:cubicBezTo>
                    <a:pt x="3170113" y="1617219"/>
                    <a:pt x="3168177" y="1621894"/>
                    <a:pt x="3164730" y="1625341"/>
                  </a:cubicBezTo>
                  <a:cubicBezTo>
                    <a:pt x="3161283" y="1628788"/>
                    <a:pt x="3156608" y="1630724"/>
                    <a:pt x="3151734" y="1630724"/>
                  </a:cubicBezTo>
                  <a:lnTo>
                    <a:pt x="18379" y="1630724"/>
                  </a:lnTo>
                  <a:cubicBezTo>
                    <a:pt x="13505" y="1630724"/>
                    <a:pt x="8830" y="1628788"/>
                    <a:pt x="5383" y="1625341"/>
                  </a:cubicBezTo>
                  <a:cubicBezTo>
                    <a:pt x="1936" y="1621894"/>
                    <a:pt x="0" y="1617219"/>
                    <a:pt x="0" y="1612345"/>
                  </a:cubicBezTo>
                  <a:lnTo>
                    <a:pt x="0" y="18379"/>
                  </a:lnTo>
                  <a:cubicBezTo>
                    <a:pt x="0" y="13505"/>
                    <a:pt x="1936" y="8830"/>
                    <a:pt x="5383" y="5383"/>
                  </a:cubicBezTo>
                  <a:cubicBezTo>
                    <a:pt x="8830" y="1936"/>
                    <a:pt x="13505" y="0"/>
                    <a:pt x="18379" y="0"/>
                  </a:cubicBezTo>
                  <a:lnTo>
                    <a:pt x="3151734" y="0"/>
                  </a:lnTo>
                  <a:cubicBezTo>
                    <a:pt x="3156608" y="0"/>
                    <a:pt x="3161283" y="1936"/>
                    <a:pt x="3164730" y="5383"/>
                  </a:cubicBezTo>
                  <a:cubicBezTo>
                    <a:pt x="3168177" y="8830"/>
                    <a:pt x="3170113" y="13505"/>
                    <a:pt x="3170113" y="18379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170113" cy="16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1604" y="3145237"/>
            <a:ext cx="8441872" cy="4333409"/>
            <a:chOff x="0" y="0"/>
            <a:chExt cx="2566991" cy="1317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6991" cy="1317696"/>
            </a:xfrm>
            <a:custGeom>
              <a:avLst/>
              <a:gdLst/>
              <a:ahLst/>
              <a:cxnLst/>
              <a:rect r="r" b="b" t="t" l="l"/>
              <a:pathLst>
                <a:path h="1317696" w="2566991">
                  <a:moveTo>
                    <a:pt x="18342" y="0"/>
                  </a:moveTo>
                  <a:lnTo>
                    <a:pt x="2548649" y="0"/>
                  </a:lnTo>
                  <a:cubicBezTo>
                    <a:pt x="2553514" y="0"/>
                    <a:pt x="2558179" y="1932"/>
                    <a:pt x="2561619" y="5372"/>
                  </a:cubicBezTo>
                  <a:cubicBezTo>
                    <a:pt x="2565059" y="8812"/>
                    <a:pt x="2566991" y="13477"/>
                    <a:pt x="2566991" y="18342"/>
                  </a:cubicBezTo>
                  <a:lnTo>
                    <a:pt x="2566991" y="1299354"/>
                  </a:lnTo>
                  <a:cubicBezTo>
                    <a:pt x="2566991" y="1304219"/>
                    <a:pt x="2565059" y="1308884"/>
                    <a:pt x="2561619" y="1312324"/>
                  </a:cubicBezTo>
                  <a:cubicBezTo>
                    <a:pt x="2558179" y="1315764"/>
                    <a:pt x="2553514" y="1317696"/>
                    <a:pt x="2548649" y="1317696"/>
                  </a:cubicBezTo>
                  <a:lnTo>
                    <a:pt x="18342" y="1317696"/>
                  </a:lnTo>
                  <a:cubicBezTo>
                    <a:pt x="8212" y="1317696"/>
                    <a:pt x="0" y="1309484"/>
                    <a:pt x="0" y="1299354"/>
                  </a:cubicBezTo>
                  <a:lnTo>
                    <a:pt x="0" y="18342"/>
                  </a:lnTo>
                  <a:cubicBezTo>
                    <a:pt x="0" y="13477"/>
                    <a:pt x="1932" y="8812"/>
                    <a:pt x="5372" y="5372"/>
                  </a:cubicBezTo>
                  <a:cubicBezTo>
                    <a:pt x="8812" y="1932"/>
                    <a:pt x="13477" y="0"/>
                    <a:pt x="18342" y="0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66991" cy="1384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51604" y="3145237"/>
            <a:ext cx="8441872" cy="4333409"/>
          </a:xfrm>
          <a:custGeom>
            <a:avLst/>
            <a:gdLst/>
            <a:ahLst/>
            <a:cxnLst/>
            <a:rect r="r" b="b" t="t" l="l"/>
            <a:pathLst>
              <a:path h="4333409" w="8441872">
                <a:moveTo>
                  <a:pt x="0" y="0"/>
                </a:moveTo>
                <a:lnTo>
                  <a:pt x="8441872" y="0"/>
                </a:lnTo>
                <a:lnTo>
                  <a:pt x="8441872" y="4333409"/>
                </a:lnTo>
                <a:lnTo>
                  <a:pt x="0" y="433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3" r="0" b="-16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93367" y="3145237"/>
            <a:ext cx="8424610" cy="4333409"/>
          </a:xfrm>
          <a:custGeom>
            <a:avLst/>
            <a:gdLst/>
            <a:ahLst/>
            <a:cxnLst/>
            <a:rect r="r" b="b" t="t" l="l"/>
            <a:pathLst>
              <a:path h="4333409" w="8424610">
                <a:moveTo>
                  <a:pt x="0" y="0"/>
                </a:moveTo>
                <a:lnTo>
                  <a:pt x="8424609" y="0"/>
                </a:lnTo>
                <a:lnTo>
                  <a:pt x="8424609" y="4333409"/>
                </a:lnTo>
                <a:lnTo>
                  <a:pt x="0" y="4333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433438"/>
            <a:ext cx="15529552" cy="22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ІНТЕРФЕЙС КОРИСТУВАЧА </a:t>
            </a:r>
          </a:p>
          <a:p>
            <a:pPr algn="l">
              <a:lnSpc>
                <a:spcPts val="5180"/>
              </a:lnSpc>
            </a:pPr>
            <a:r>
              <a:rPr lang="en-US" b="true" sz="37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ОРГАНІЗАТОР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5786" y="-1616585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92162" y="2786742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93367" y="3145237"/>
            <a:ext cx="8424610" cy="4333409"/>
            <a:chOff x="0" y="0"/>
            <a:chExt cx="3170113" cy="1630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0113" cy="1630724"/>
            </a:xfrm>
            <a:custGeom>
              <a:avLst/>
              <a:gdLst/>
              <a:ahLst/>
              <a:cxnLst/>
              <a:rect r="r" b="b" t="t" l="l"/>
              <a:pathLst>
                <a:path h="1630724" w="3170113">
                  <a:moveTo>
                    <a:pt x="3170113" y="18379"/>
                  </a:moveTo>
                  <a:lnTo>
                    <a:pt x="3170113" y="1612345"/>
                  </a:lnTo>
                  <a:cubicBezTo>
                    <a:pt x="3170113" y="1617219"/>
                    <a:pt x="3168177" y="1621894"/>
                    <a:pt x="3164730" y="1625341"/>
                  </a:cubicBezTo>
                  <a:cubicBezTo>
                    <a:pt x="3161283" y="1628788"/>
                    <a:pt x="3156608" y="1630724"/>
                    <a:pt x="3151734" y="1630724"/>
                  </a:cubicBezTo>
                  <a:lnTo>
                    <a:pt x="18379" y="1630724"/>
                  </a:lnTo>
                  <a:cubicBezTo>
                    <a:pt x="13505" y="1630724"/>
                    <a:pt x="8830" y="1628788"/>
                    <a:pt x="5383" y="1625341"/>
                  </a:cubicBezTo>
                  <a:cubicBezTo>
                    <a:pt x="1936" y="1621894"/>
                    <a:pt x="0" y="1617219"/>
                    <a:pt x="0" y="1612345"/>
                  </a:cubicBezTo>
                  <a:lnTo>
                    <a:pt x="0" y="18379"/>
                  </a:lnTo>
                  <a:cubicBezTo>
                    <a:pt x="0" y="13505"/>
                    <a:pt x="1936" y="8830"/>
                    <a:pt x="5383" y="5383"/>
                  </a:cubicBezTo>
                  <a:cubicBezTo>
                    <a:pt x="8830" y="1936"/>
                    <a:pt x="13505" y="0"/>
                    <a:pt x="18379" y="0"/>
                  </a:cubicBezTo>
                  <a:lnTo>
                    <a:pt x="3151734" y="0"/>
                  </a:lnTo>
                  <a:cubicBezTo>
                    <a:pt x="3156608" y="0"/>
                    <a:pt x="3161283" y="1936"/>
                    <a:pt x="3164730" y="5383"/>
                  </a:cubicBezTo>
                  <a:cubicBezTo>
                    <a:pt x="3168177" y="8830"/>
                    <a:pt x="3170113" y="13505"/>
                    <a:pt x="3170113" y="18379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170113" cy="16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1604" y="3145237"/>
            <a:ext cx="8441872" cy="4333409"/>
            <a:chOff x="0" y="0"/>
            <a:chExt cx="2566991" cy="1317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6991" cy="1317696"/>
            </a:xfrm>
            <a:custGeom>
              <a:avLst/>
              <a:gdLst/>
              <a:ahLst/>
              <a:cxnLst/>
              <a:rect r="r" b="b" t="t" l="l"/>
              <a:pathLst>
                <a:path h="1317696" w="2566991">
                  <a:moveTo>
                    <a:pt x="18342" y="0"/>
                  </a:moveTo>
                  <a:lnTo>
                    <a:pt x="2548649" y="0"/>
                  </a:lnTo>
                  <a:cubicBezTo>
                    <a:pt x="2553514" y="0"/>
                    <a:pt x="2558179" y="1932"/>
                    <a:pt x="2561619" y="5372"/>
                  </a:cubicBezTo>
                  <a:cubicBezTo>
                    <a:pt x="2565059" y="8812"/>
                    <a:pt x="2566991" y="13477"/>
                    <a:pt x="2566991" y="18342"/>
                  </a:cubicBezTo>
                  <a:lnTo>
                    <a:pt x="2566991" y="1299354"/>
                  </a:lnTo>
                  <a:cubicBezTo>
                    <a:pt x="2566991" y="1304219"/>
                    <a:pt x="2565059" y="1308884"/>
                    <a:pt x="2561619" y="1312324"/>
                  </a:cubicBezTo>
                  <a:cubicBezTo>
                    <a:pt x="2558179" y="1315764"/>
                    <a:pt x="2553514" y="1317696"/>
                    <a:pt x="2548649" y="1317696"/>
                  </a:cubicBezTo>
                  <a:lnTo>
                    <a:pt x="18342" y="1317696"/>
                  </a:lnTo>
                  <a:cubicBezTo>
                    <a:pt x="8212" y="1317696"/>
                    <a:pt x="0" y="1309484"/>
                    <a:pt x="0" y="1299354"/>
                  </a:cubicBezTo>
                  <a:lnTo>
                    <a:pt x="0" y="18342"/>
                  </a:lnTo>
                  <a:cubicBezTo>
                    <a:pt x="0" y="13477"/>
                    <a:pt x="1932" y="8812"/>
                    <a:pt x="5372" y="5372"/>
                  </a:cubicBezTo>
                  <a:cubicBezTo>
                    <a:pt x="8812" y="1932"/>
                    <a:pt x="13477" y="0"/>
                    <a:pt x="18342" y="0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66991" cy="1384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51604" y="3145237"/>
            <a:ext cx="8434859" cy="4333409"/>
          </a:xfrm>
          <a:custGeom>
            <a:avLst/>
            <a:gdLst/>
            <a:ahLst/>
            <a:cxnLst/>
            <a:rect r="r" b="b" t="t" l="l"/>
            <a:pathLst>
              <a:path h="4333409" w="8434859">
                <a:moveTo>
                  <a:pt x="0" y="0"/>
                </a:moveTo>
                <a:lnTo>
                  <a:pt x="8434859" y="0"/>
                </a:lnTo>
                <a:lnTo>
                  <a:pt x="8434859" y="4333409"/>
                </a:lnTo>
                <a:lnTo>
                  <a:pt x="0" y="433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72844" y="3145237"/>
            <a:ext cx="8445133" cy="4333409"/>
          </a:xfrm>
          <a:custGeom>
            <a:avLst/>
            <a:gdLst/>
            <a:ahLst/>
            <a:cxnLst/>
            <a:rect r="r" b="b" t="t" l="l"/>
            <a:pathLst>
              <a:path h="4333409" w="8445133">
                <a:moveTo>
                  <a:pt x="0" y="0"/>
                </a:moveTo>
                <a:lnTo>
                  <a:pt x="8445132" y="0"/>
                </a:lnTo>
                <a:lnTo>
                  <a:pt x="8445132" y="4333409"/>
                </a:lnTo>
                <a:lnTo>
                  <a:pt x="0" y="4333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433438"/>
            <a:ext cx="15529552" cy="22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ІНТЕРФЕЙС КОРИСТУВАЧА </a:t>
            </a:r>
          </a:p>
          <a:p>
            <a:pPr algn="l">
              <a:lnSpc>
                <a:spcPts val="5180"/>
              </a:lnSpc>
            </a:pPr>
            <a:r>
              <a:rPr lang="en-US" b="true" sz="37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АДМІНІСТРАТОР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05929" y="4420880"/>
            <a:ext cx="7704200" cy="77042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823400" y="3901867"/>
            <a:ext cx="7704200" cy="77042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5953615"/>
            <a:ext cx="6662367" cy="216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Ад</a:t>
            </a: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апт</a:t>
            </a:r>
            <a:r>
              <a:rPr lang="en-US" b="true" sz="3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ивність</a:t>
            </a:r>
          </a:p>
          <a:p>
            <a:pPr algn="just">
              <a:lnSpc>
                <a:spcPts val="3247"/>
              </a:lnSpc>
            </a:pPr>
            <a:r>
              <a:rPr lang="en-US" sz="23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Перевірено на межових значеннях чотирьох діапазонів ширини екрана – мобільний, планшетний, для ноутбуків, настільний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4875"/>
            <a:ext cx="1162672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b="true" sz="6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ТЕСТУВАННЯ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4982" y="-4501326"/>
            <a:ext cx="7704200" cy="77042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732900" y="2516868"/>
            <a:ext cx="7878898" cy="175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Чек-лист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кладено для к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ожної реалізованої сторінки – організації, активності, рекомендації волонтерів, адміністративна панель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32900" y="5953615"/>
            <a:ext cx="7314182" cy="175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Локалізація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еревірено обидві 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мови для кожної сторінки – основний вміст, порожні стани, помилки, форми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516868"/>
            <a:ext cx="7136639" cy="298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Підхі</a:t>
            </a: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д</a:t>
            </a:r>
          </a:p>
          <a:p>
            <a:pPr algn="l">
              <a:lnSpc>
                <a:spcPts val="3248"/>
              </a:lnSpc>
            </a:pP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ануальне тестування –</a:t>
            </a:r>
            <a:r>
              <a:rPr lang="en-US" sz="23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форми з покроковою валідацією, компоненти з окремим життєвим циклом і дії з кількома одночасними наслідками важко відтворити автоматизованим тестом</a:t>
            </a:r>
          </a:p>
          <a:p>
            <a:pPr algn="l">
              <a:lnSpc>
                <a:spcPts val="324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02391" y="4579286"/>
            <a:ext cx="8239499" cy="82394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020486" y="1063261"/>
            <a:ext cx="9223739" cy="9223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99855" y="313963"/>
            <a:ext cx="3784308" cy="37843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99855" y="7945834"/>
            <a:ext cx="1966467" cy="19664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6360" y="7931254"/>
            <a:ext cx="983233" cy="9832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181124" y="2568582"/>
            <a:ext cx="5064568" cy="7154532"/>
            <a:chOff x="0" y="0"/>
            <a:chExt cx="1733411" cy="24488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3411" cy="2448873"/>
            </a:xfrm>
            <a:custGeom>
              <a:avLst/>
              <a:gdLst/>
              <a:ahLst/>
              <a:cxnLst/>
              <a:rect r="r" b="b" t="t" l="l"/>
              <a:pathLst>
                <a:path h="2448873" w="1733411">
                  <a:moveTo>
                    <a:pt x="1733411" y="30573"/>
                  </a:moveTo>
                  <a:lnTo>
                    <a:pt x="1733411" y="2418300"/>
                  </a:lnTo>
                  <a:cubicBezTo>
                    <a:pt x="1733411" y="2426408"/>
                    <a:pt x="1730190" y="2434185"/>
                    <a:pt x="1724456" y="2439918"/>
                  </a:cubicBezTo>
                  <a:cubicBezTo>
                    <a:pt x="1718723" y="2445651"/>
                    <a:pt x="1710946" y="2448873"/>
                    <a:pt x="1702838" y="2448873"/>
                  </a:cubicBezTo>
                  <a:lnTo>
                    <a:pt x="30573" y="2448873"/>
                  </a:lnTo>
                  <a:cubicBezTo>
                    <a:pt x="22464" y="2448873"/>
                    <a:pt x="14688" y="2445651"/>
                    <a:pt x="8955" y="2439918"/>
                  </a:cubicBezTo>
                  <a:cubicBezTo>
                    <a:pt x="3221" y="2434185"/>
                    <a:pt x="0" y="2426408"/>
                    <a:pt x="0" y="2418300"/>
                  </a:cubicBezTo>
                  <a:lnTo>
                    <a:pt x="0" y="30573"/>
                  </a:lnTo>
                  <a:cubicBezTo>
                    <a:pt x="0" y="22464"/>
                    <a:pt x="3221" y="14688"/>
                    <a:pt x="8955" y="8955"/>
                  </a:cubicBezTo>
                  <a:cubicBezTo>
                    <a:pt x="14688" y="3221"/>
                    <a:pt x="22464" y="0"/>
                    <a:pt x="30573" y="0"/>
                  </a:cubicBezTo>
                  <a:lnTo>
                    <a:pt x="1702838" y="0"/>
                  </a:lnTo>
                  <a:cubicBezTo>
                    <a:pt x="1710946" y="0"/>
                    <a:pt x="1718723" y="3221"/>
                    <a:pt x="1724456" y="8955"/>
                  </a:cubicBezTo>
                  <a:cubicBezTo>
                    <a:pt x="1730190" y="14688"/>
                    <a:pt x="1733411" y="22464"/>
                    <a:pt x="1733411" y="30573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733411" cy="2515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181124" y="2568582"/>
            <a:ext cx="5064568" cy="7154532"/>
          </a:xfrm>
          <a:custGeom>
            <a:avLst/>
            <a:gdLst/>
            <a:ahLst/>
            <a:cxnLst/>
            <a:rect r="r" b="b" t="t" l="l"/>
            <a:pathLst>
              <a:path h="7154532" w="5064568">
                <a:moveTo>
                  <a:pt x="0" y="0"/>
                </a:moveTo>
                <a:lnTo>
                  <a:pt x="5064568" y="0"/>
                </a:lnTo>
                <a:lnTo>
                  <a:pt x="5064568" y="7154532"/>
                </a:lnTo>
                <a:lnTo>
                  <a:pt x="0" y="7154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888020" y="2568582"/>
            <a:ext cx="5064568" cy="7154532"/>
            <a:chOff x="0" y="0"/>
            <a:chExt cx="1733411" cy="24488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3411" cy="2448873"/>
            </a:xfrm>
            <a:custGeom>
              <a:avLst/>
              <a:gdLst/>
              <a:ahLst/>
              <a:cxnLst/>
              <a:rect r="r" b="b" t="t" l="l"/>
              <a:pathLst>
                <a:path h="2448873" w="1733411">
                  <a:moveTo>
                    <a:pt x="1733411" y="30573"/>
                  </a:moveTo>
                  <a:lnTo>
                    <a:pt x="1733411" y="2418300"/>
                  </a:lnTo>
                  <a:cubicBezTo>
                    <a:pt x="1733411" y="2426408"/>
                    <a:pt x="1730190" y="2434185"/>
                    <a:pt x="1724456" y="2439918"/>
                  </a:cubicBezTo>
                  <a:cubicBezTo>
                    <a:pt x="1718723" y="2445651"/>
                    <a:pt x="1710946" y="2448873"/>
                    <a:pt x="1702838" y="2448873"/>
                  </a:cubicBezTo>
                  <a:lnTo>
                    <a:pt x="30573" y="2448873"/>
                  </a:lnTo>
                  <a:cubicBezTo>
                    <a:pt x="22464" y="2448873"/>
                    <a:pt x="14688" y="2445651"/>
                    <a:pt x="8955" y="2439918"/>
                  </a:cubicBezTo>
                  <a:cubicBezTo>
                    <a:pt x="3221" y="2434185"/>
                    <a:pt x="0" y="2426408"/>
                    <a:pt x="0" y="2418300"/>
                  </a:cubicBezTo>
                  <a:lnTo>
                    <a:pt x="0" y="30573"/>
                  </a:lnTo>
                  <a:cubicBezTo>
                    <a:pt x="0" y="22464"/>
                    <a:pt x="3221" y="14688"/>
                    <a:pt x="8955" y="8955"/>
                  </a:cubicBezTo>
                  <a:cubicBezTo>
                    <a:pt x="14688" y="3221"/>
                    <a:pt x="22464" y="0"/>
                    <a:pt x="30573" y="0"/>
                  </a:cubicBezTo>
                  <a:lnTo>
                    <a:pt x="1702838" y="0"/>
                  </a:lnTo>
                  <a:cubicBezTo>
                    <a:pt x="1710946" y="0"/>
                    <a:pt x="1718723" y="3221"/>
                    <a:pt x="1724456" y="8955"/>
                  </a:cubicBezTo>
                  <a:cubicBezTo>
                    <a:pt x="1730190" y="14688"/>
                    <a:pt x="1733411" y="22464"/>
                    <a:pt x="1733411" y="30573"/>
                  </a:cubicBezTo>
                  <a:close/>
                </a:path>
              </a:pathLst>
            </a:custGeom>
            <a:solidFill>
              <a:srgbClr val="465A2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733411" cy="2515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88020" y="2568582"/>
            <a:ext cx="5064568" cy="7154532"/>
          </a:xfrm>
          <a:custGeom>
            <a:avLst/>
            <a:gdLst/>
            <a:ahLst/>
            <a:cxnLst/>
            <a:rect r="r" b="b" t="t" l="l"/>
            <a:pathLst>
              <a:path h="7154532" w="5064568">
                <a:moveTo>
                  <a:pt x="0" y="0"/>
                </a:moveTo>
                <a:lnTo>
                  <a:pt x="5064568" y="0"/>
                </a:lnTo>
                <a:lnTo>
                  <a:pt x="5064568" y="7154532"/>
                </a:lnTo>
                <a:lnTo>
                  <a:pt x="0" y="7154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434467"/>
            <a:ext cx="1571864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АПРОБАЦІЯ РЕЗУЛЬТАТІВ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46546" y="8485081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9496" y="1875530"/>
            <a:ext cx="8012605" cy="80126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29160" y="-987596"/>
            <a:ext cx="7815507" cy="78155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8845" y="1875530"/>
            <a:ext cx="1399709" cy="139970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00391" y="7955933"/>
            <a:ext cx="1966467" cy="19664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6896" y="7941353"/>
            <a:ext cx="983233" cy="9832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47081" y="8495180"/>
            <a:ext cx="873086" cy="8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604">
                <a:solidFill>
                  <a:srgbClr val="8C000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</a:p>
          <a:p>
            <a:pPr algn="ctr">
              <a:lnSpc>
                <a:spcPts val="3909"/>
              </a:lnSpc>
            </a:pPr>
            <a:r>
              <a:rPr lang="en-US" b="true" sz="3204">
                <a:solidFill>
                  <a:srgbClr val="8C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57250"/>
            <a:ext cx="1402835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Exo 2 Heavy"/>
                <a:ea typeface="Exo 2 Heavy"/>
                <a:cs typeface="Exo 2 Heavy"/>
                <a:sym typeface="Exo 2 Heavy"/>
              </a:rPr>
              <a:t>ВИСНОВКИ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976435"/>
            <a:ext cx="8115300" cy="563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Результати</a:t>
            </a:r>
          </a:p>
          <a:p>
            <a:pPr algn="l">
              <a:lnSpc>
                <a:spcPts val="3377"/>
              </a:lnSpc>
            </a:pP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Спроєктовано та реалізовано клієнтську частину, що відповідає функціональним і нефункціональним вимогам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Впроваджено єдину дизайн-систему та адаптивний, локалізований інтерфейс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Реалізовано керування контекстними ролями, організаціями, активностями та адміністративну панель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Функціонал перевірено мануальним тестуванням за чек-листами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Результати представлено на конференції та міжнародному молодіжному форумі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13867" y="9107525"/>
            <a:ext cx="910559" cy="615589"/>
          </a:xfrm>
          <a:custGeom>
            <a:avLst/>
            <a:gdLst/>
            <a:ahLst/>
            <a:cxnLst/>
            <a:rect r="r" b="b" t="t" l="l"/>
            <a:pathLst>
              <a:path h="615589" w="910559">
                <a:moveTo>
                  <a:pt x="0" y="0"/>
                </a:moveTo>
                <a:lnTo>
                  <a:pt x="910559" y="0"/>
                </a:lnTo>
                <a:lnTo>
                  <a:pt x="910559" y="615589"/>
                </a:lnTo>
                <a:lnTo>
                  <a:pt x="0" y="615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7669" y="2976435"/>
            <a:ext cx="7569227" cy="403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590000">
                        <a:alpha val="100000"/>
                      </a:srgbClr>
                    </a:gs>
                    <a:gs pos="100000">
                      <a:srgbClr val="CB0000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Перспективи розвитку</a:t>
            </a:r>
          </a:p>
          <a:p>
            <a:pPr algn="l">
              <a:lnSpc>
                <a:spcPts val="3121"/>
              </a:lnSpc>
            </a:pP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Розширена аналітика та звітність на основі накопичених даних платформи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Мобільний застосунок для волонтерів, організаторів та адміністраторів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Інтеграція із зовнішніми сервісами – донати, соціальні мережі, календарі</a:t>
            </a:r>
          </a:p>
          <a:p>
            <a:pPr algn="l" marL="481456" indent="-240728" lvl="1">
              <a:lnSpc>
                <a:spcPts val="3121"/>
              </a:lnSpc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Публічне API для інтеграції платформи з іншими системами організацій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DAHFCpUKXxw</dc:identifier>
  <dcterms:modified xsi:type="dcterms:W3CDTF">2011-08-01T06:04:30Z</dcterms:modified>
  <cp:revision>1</cp:revision>
  <dc:title>Green Illustrative Volunteering for a Sustainable Future Presentation</dc:title>
</cp:coreProperties>
</file>